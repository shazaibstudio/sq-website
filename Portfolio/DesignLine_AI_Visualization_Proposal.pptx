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D0D0D"/>
          </a:solidFill>
        </p:spPr>
      </p:sp>
      <p:sp>
        <p:nvSpPr>
          <p:cNvPr id="4" name="Shape 1"/>
          <p:cNvSpPr/>
          <p:nvPr/>
        </p:nvSpPr>
        <p:spPr>
          <a:xfrm>
            <a:off x="457200" y="411480"/>
            <a:ext cx="109728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Text 2"/>
          <p:cNvSpPr/>
          <p:nvPr/>
        </p:nvSpPr>
        <p:spPr>
          <a:xfrm>
            <a:off x="457200" y="5029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84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SQ INTERACTIVE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402336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AI-Assisted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Architectural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Visualization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 of Concept for Design Line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2918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Locally-hosted · Unlimited Iterations · Zero Recurring Cost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A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Prepared by Shazaib Qasim  ·  sqinteractive.com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 Built — And Why It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1A1A1A"/>
          </a:solidFill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8745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97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2286000"/>
            <a:ext cx="237744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Line's current AI rendering workflow lacks structural accuracy, session memory, and requires heavy manual prompting — creating friction and revision overhead across every client project.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00400" y="128016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1A1A1A"/>
          </a:solidFill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4630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7560" y="18745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97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 Proved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37560" y="2286000"/>
            <a:ext cx="237744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fully local AI pipeline using ComfyUI + ControlNet can transform any real-world property photo into a high-quality architectural visualization — with unlimited iterations at zero cloud cost.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035040" y="1280160"/>
            <a:ext cx="2651760" cy="3383280"/>
          </a:xfrm>
          <a:prstGeom prst="roundRect">
            <a:avLst>
              <a:gd name="adj" fmla="val 2759"/>
            </a:avLst>
          </a:prstGeom>
          <a:solidFill>
            <a:srgbClr val="1A1A1A"/>
          </a:solidFill>
          <a:effectLst>
            <a:outerShdw blurRad="152400" dist="38100" dir="27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6304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18745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97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172200" y="2286000"/>
            <a:ext cx="2377440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concept approvals, reduced rendering dependency, privacy-safe client workflows, and a scalable system that can be embedded directly into Design Line's production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Current Visualization Workflows Are Holding Firms Back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1463040"/>
          </a:xfrm>
          <a:prstGeom prst="roundRect">
            <a:avLst>
              <a:gd name="adj" fmla="val 4375"/>
            </a:avLst>
          </a:prstGeom>
          <a:solidFill>
            <a:srgbClr val="1A0A0A"/>
          </a:solidFill>
          <a:effectLst>
            <a:outerShdw blurRad="127000" dist="254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3560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46304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Slow Iteration Cycles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801368"/>
            <a:ext cx="32461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revision requires manual re-rendering or re-prompting, creating multi-hour delays between client feedback and updated concepts.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114800" cy="1463040"/>
          </a:xfrm>
          <a:prstGeom prst="roundRect">
            <a:avLst>
              <a:gd name="adj" fmla="val 4375"/>
            </a:avLst>
          </a:prstGeom>
          <a:solidFill>
            <a:srgbClr val="1A0A0A"/>
          </a:solidFill>
          <a:effectLst>
            <a:outerShdw blurRad="127000" dist="254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43560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40680" y="146304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Session Memory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1801368"/>
            <a:ext cx="32461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Gemini session starts from scratch. Design intent, style choices, and refinements are lost — forcing repetitive manual prompting.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114800" cy="1463040"/>
          </a:xfrm>
          <a:prstGeom prst="roundRect">
            <a:avLst>
              <a:gd name="adj" fmla="val 4375"/>
            </a:avLst>
          </a:prstGeom>
          <a:solidFill>
            <a:srgbClr val="1A0A0A"/>
          </a:solidFill>
          <a:effectLst>
            <a:outerShdw blurRad="127000" dist="254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12724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Structural Inaccuracy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493008"/>
            <a:ext cx="32461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AI tools often distort architectural geometry, window proportions, and facade structure — undermining client trust.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114800" cy="1463040"/>
          </a:xfrm>
          <a:prstGeom prst="roundRect">
            <a:avLst>
              <a:gd name="adj" fmla="val 4375"/>
            </a:avLst>
          </a:prstGeom>
          <a:solidFill>
            <a:srgbClr val="1A0A0A"/>
          </a:solidFill>
          <a:effectLst>
            <a:outerShdw blurRad="127000" dist="254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12724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0680" y="3154680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Cost &amp; Privacy Risk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40680" y="3493008"/>
            <a:ext cx="324612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API dependency means ongoing per-render cost and client property images being sent to external servers — a liability risk.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BEFORE &amp; AFTER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Same Property. Same Structural Geometry. Transformed.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11111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5760" y="1097280"/>
            <a:ext cx="402336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416052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5A1A1A"/>
          </a:solidFill>
        </p:spPr>
      </p:sp>
      <p:sp>
        <p:nvSpPr>
          <p:cNvPr id="7" name="Text 4"/>
          <p:cNvSpPr/>
          <p:nvPr/>
        </p:nvSpPr>
        <p:spPr>
          <a:xfrm>
            <a:off x="502920" y="4160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80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BEFORE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452628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Client-provided raw photo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377440"/>
            <a:ext cx="4572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63440" y="100584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111111"/>
          </a:solidFill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754880" y="1097280"/>
            <a:ext cx="4023360" cy="32918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00600" y="4160520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0D2A0D"/>
          </a:solidFill>
        </p:spPr>
      </p:sp>
      <p:sp>
        <p:nvSpPr>
          <p:cNvPr id="13" name="Text 8"/>
          <p:cNvSpPr/>
          <p:nvPr/>
        </p:nvSpPr>
        <p:spPr>
          <a:xfrm>
            <a:off x="4800600" y="416052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0FF8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AFTER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4754880" y="452628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AI-generated visualization — fully local pipeline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VARIATION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Multiple Concept Directions From a Single Input Image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111111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5760" y="1143000"/>
            <a:ext cx="402336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40740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Variation A — Modern Rustic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111111"/>
          </a:solidFill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54880" y="1143000"/>
            <a:ext cx="4023360" cy="3017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440740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Variation B — Contemporary Luxury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371600" y="475488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generated from the same client photo · Same workflow · Zero additional cost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TECHNICAL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the Pipeline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937760" y="914400"/>
            <a:ext cx="3931920" cy="3931920"/>
          </a:xfrm>
          <a:prstGeom prst="roundRect">
            <a:avLst>
              <a:gd name="adj" fmla="val 1860"/>
            </a:avLst>
          </a:prstGeom>
          <a:solidFill>
            <a:srgbClr val="111111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029200" y="1005840"/>
            <a:ext cx="3749040" cy="3749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365760" cy="365760"/>
          </a:xfrm>
          <a:prstGeom prst="ellipse">
            <a:avLst/>
          </a:prstGeom>
          <a:solidFill>
            <a:srgbClr val="C9A84C"/>
          </a:solidFill>
        </p:spPr>
      </p:sp>
      <p:sp>
        <p:nvSpPr>
          <p:cNvPr id="7" name="Text 4"/>
          <p:cNvSpPr/>
          <p:nvPr/>
        </p:nvSpPr>
        <p:spPr>
          <a:xfrm>
            <a:off x="365760" y="10058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14984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1207008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 property photo uploaded into ComfyUI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1389888"/>
            <a:ext cx="0" cy="347472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1755648"/>
            <a:ext cx="365760" cy="365760"/>
          </a:xfrm>
          <a:prstGeom prst="ellipse">
            <a:avLst/>
          </a:prstGeom>
          <a:solidFill>
            <a:srgbClr val="C9A84C"/>
          </a:solidFill>
        </p:spPr>
      </p:sp>
      <p:sp>
        <p:nvSpPr>
          <p:cNvPr id="12" name="Text 9"/>
          <p:cNvSpPr/>
          <p:nvPr/>
        </p:nvSpPr>
        <p:spPr>
          <a:xfrm>
            <a:off x="365760" y="175564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176479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Canny Edge Detection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1956816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ControlNet extracts precise architectural geometry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" y="2139696"/>
            <a:ext cx="0" cy="347472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" y="2505456"/>
            <a:ext cx="365760" cy="365760"/>
          </a:xfrm>
          <a:prstGeom prst="ellipse">
            <a:avLst/>
          </a:prstGeom>
          <a:solidFill>
            <a:srgbClr val="C9A84C"/>
          </a:solidFill>
        </p:spPr>
      </p:sp>
      <p:sp>
        <p:nvSpPr>
          <p:cNvPr id="17" name="Text 14"/>
          <p:cNvSpPr/>
          <p:nvPr/>
        </p:nvSpPr>
        <p:spPr>
          <a:xfrm>
            <a:off x="365760" y="250545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251460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" y="2706624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Style, materials, lighting encoded into CLIP text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48640" y="2889504"/>
            <a:ext cx="0" cy="347472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5760" y="3255264"/>
            <a:ext cx="365760" cy="365760"/>
          </a:xfrm>
          <a:prstGeom prst="ellipse">
            <a:avLst/>
          </a:prstGeom>
          <a:solidFill>
            <a:srgbClr val="C9A84C"/>
          </a:solidFill>
        </p:spPr>
      </p:sp>
      <p:sp>
        <p:nvSpPr>
          <p:cNvPr id="22" name="Text 19"/>
          <p:cNvSpPr/>
          <p:nvPr/>
        </p:nvSpPr>
        <p:spPr>
          <a:xfrm>
            <a:off x="365760" y="32552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" y="3264408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Local Inference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2960" y="3456432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Juggernaut XL generates image via KSampler (30 steps)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8640" y="3639312"/>
            <a:ext cx="0" cy="347472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" y="4005072"/>
            <a:ext cx="365760" cy="365760"/>
          </a:xfrm>
          <a:prstGeom prst="ellipse">
            <a:avLst/>
          </a:prstGeom>
          <a:solidFill>
            <a:srgbClr val="C9A84C"/>
          </a:solidFill>
        </p:spPr>
      </p:sp>
      <p:sp>
        <p:nvSpPr>
          <p:cNvPr id="27" name="Text 24"/>
          <p:cNvSpPr/>
          <p:nvPr/>
        </p:nvSpPr>
        <p:spPr>
          <a:xfrm>
            <a:off x="365760" y="40050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0D0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822960" y="4014216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Variation Output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" y="420624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Randomized seed generates unlimited concept directions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0A0A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Stack: ComfyUI · Juggernaut XL · ControlNet Canny SDXL · KSampler Advanced · Local GPU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COMMERCIAL POTENTIAL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This Means for Design 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69080" cy="16002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effectLst>
            <a:outerShdw blurRad="127000" dist="254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3898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Faster Client Approvals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5–10 concept variations in a single session. Present more options, close approvals faster.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4069080" cy="16002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effectLst>
            <a:outerShdw blurRad="127000" dist="254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49240" y="13898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Embedded in Existing Projects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937760" y="1783080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workflow can run directly on your hardware — no new subscriptions, no data leaving your office.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65760" y="3017520"/>
            <a:ext cx="4069080" cy="16002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effectLst>
            <a:outerShdw blurRad="127000" dist="254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32186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Scalable Across Firm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48640" y="3611880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built, any team member can run the pipeline. No technical expertise needed for day-to-day use.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754880" y="3017520"/>
            <a:ext cx="4069080" cy="16002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effectLst>
            <a:outerShdw blurRad="127000" dist="254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0040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3218688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Privacy-Safe by Default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937760" y="3611880"/>
            <a:ext cx="36576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client property images stay local. Zero third-party cloud exposure — a selling point for premium clients.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A84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59436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Proposed Path Forward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2344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05840" y="123444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Pilot Phase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15087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the pipeline on 3–5 active Design Line projects. Measure iteration time reduction vs. current workflow.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65760" y="21488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05840" y="214884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Workflow Refinement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4231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Tune prompts, ControlNet strength, and upscaling to match Design Line's specific architectural style standards.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5760" y="30632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05840" y="306324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Team Onboarding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33375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relevant staff on the pipeline interface. No coding required for day-to-day operation.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5760" y="397764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05840" y="3977640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Full Integration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05840" y="42519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as a permanent internal tool, optionally packaged into a simple UI for non-technical team members.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4663440"/>
            <a:ext cx="4114800" cy="320040"/>
          </a:xfrm>
          <a:prstGeom prst="roundRect">
            <a:avLst>
              <a:gd name="adj" fmla="val 17143"/>
            </a:avLst>
          </a:prstGeom>
          <a:solidFill>
            <a:srgbClr val="C9A84C"/>
          </a:solidFill>
        </p:spPr>
      </p:sp>
      <p:sp>
        <p:nvSpPr>
          <p:cNvPr id="18" name="Text 15"/>
          <p:cNvSpPr/>
          <p:nvPr/>
        </p:nvSpPr>
        <p:spPr>
          <a:xfrm>
            <a:off x="365760" y="466344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0D0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Ready to run on your first project whenever you are.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2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D">
              <a:alpha val="7000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2286000" y="1371600"/>
            <a:ext cx="45720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Text 2"/>
          <p:cNvSpPr/>
          <p:nvPr/>
        </p:nvSpPr>
        <p:spPr>
          <a:xfrm>
            <a:off x="914400" y="155448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This is not a concept.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8C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a working system, built and tested on your firm's imagery.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86000" y="2697480"/>
            <a:ext cx="4572000" cy="3657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8" name="Text 5"/>
          <p:cNvSpPr/>
          <p:nvPr/>
        </p:nvSpPr>
        <p:spPr>
          <a:xfrm>
            <a:off x="914400" y="29718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C97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Shazaib Qasier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3375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XR Developer &amp; AI Systems Consultant  ·  SQ Interactive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sqinteractive.com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3615</Words>
  <Application>WPS Presentation</Application>
  <PresentationFormat>On-screen Show (16:9)</PresentationFormat>
  <Paragraphs>174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Arial</vt:lpstr>
      <vt:lpstr>Arial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Hp</cp:lastModifiedBy>
  <cp:revision>2</cp:revision>
  <dcterms:created xsi:type="dcterms:W3CDTF">2026-06-09T09:51:00Z</dcterms:created>
  <dcterms:modified xsi:type="dcterms:W3CDTF">2026-06-09T10:04:32Z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2E95CE299C444FD288E94DC47703E647_12</vt:lpwstr>
  </property>
  <property fmtid="{D5CDD505-2E9C-101B-9397-08002B2CF9AE}" pid="3" name="KSOProductBuildVer">
    <vt:lpwstr>2057-12.2.0.23202</vt:lpwstr>
  </property>
</Properties>
</file>